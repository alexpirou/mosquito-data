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mmary" id="{ed3fb8c0-8b26-9357-7ca5-402c6eea36fc}">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All mosquitoes</c:v>
                </c:pt>
              </c:strCache>
            </c:strRef>
          </c:tx>
          <c:spPr>
            <a:solidFill>
              <a:srgbClr val="F2A541"/>
            </a:solidFill>
            <a:ln w="38100" cap="flat">
              <a:solidFill>
                <a:srgbClr val="F2A54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2A541"/>
              </a:solidFill>
              <a:ln w="9525" cap="flat">
                <a:solidFill>
                  <a:srgbClr val="F2A541"/>
                </a:solidFill>
                <a:prstDash val="solid"/>
                <a:round/>
              </a:ln>
              <a:effectLst/>
            </c:spPr>
          </c:marker>
          <c:cat>
            <c:multiLvlStrRef>
              <c:f>Sheet1!$A$2:$A$13</c:f>
              <c:multiLvlStrCache>
                <c:ptCount val="12"/>
                <c:lvl>
                  <c:pt idx="0">
                    <c:v>J</c:v>
                  </c:pt>
                  <c:pt idx="1">
                    <c:v>F</c:v>
                  </c:pt>
                  <c:pt idx="2">
                    <c:v>M</c:v>
                  </c:pt>
                  <c:pt idx="3">
                    <c:v>A</c:v>
                  </c:pt>
                  <c:pt idx="4">
                    <c:v>M</c:v>
                  </c:pt>
                  <c:pt idx="5">
                    <c:v>J</c:v>
                  </c:pt>
                  <c:pt idx="6">
                    <c:v>J</c:v>
                  </c:pt>
                  <c:pt idx="7">
                    <c:v>A</c:v>
                  </c:pt>
                  <c:pt idx="8">
                    <c:v>S</c:v>
                  </c:pt>
                  <c:pt idx="9">
                    <c:v>O</c:v>
                  </c:pt>
                  <c:pt idx="10">
                    <c:v>N</c:v>
                  </c:pt>
                  <c:pt idx="11">
                    <c:v>D</c:v>
                  </c:pt>
                </c:lvl>
              </c:multiLvlStrCache>
            </c:multiLvlStrRef>
          </c:cat>
          <c:val>
            <c:numRef>
              <c:f>Sheet1!$B$2:$B$13</c:f>
              <c:numCache>
                <c:formatCode>General</c:formatCode>
                <c:ptCount val="12"/>
                <c:pt idx="0">
                  <c:v>8.7</c:v>
                </c:pt>
                <c:pt idx="1">
                  <c:v>11.3</c:v>
                </c:pt>
                <c:pt idx="2">
                  <c:v>18.7</c:v>
                </c:pt>
                <c:pt idx="3">
                  <c:v>49.3</c:v>
                </c:pt>
                <c:pt idx="4">
                  <c:v>74</c:v>
                </c:pt>
                <c:pt idx="5">
                  <c:v>89.3</c:v>
                </c:pt>
                <c:pt idx="6">
                  <c:v>100</c:v>
                </c:pt>
                <c:pt idx="7">
                  <c:v>91.3</c:v>
                </c:pt>
                <c:pt idx="8">
                  <c:v>98.7</c:v>
                </c:pt>
                <c:pt idx="9">
                  <c:v>73.3</c:v>
                </c:pt>
                <c:pt idx="10">
                  <c:v>35.3</c:v>
                </c:pt>
                <c:pt idx="11">
                  <c:v>16.7</c:v>
                </c:pt>
              </c:numCache>
            </c:numRef>
          </c:val>
          <c:smooth val="0"/>
        </c:ser>
        <c:ser>
          <c:idx val="1"/>
          <c:order val="1"/>
          <c:tx>
            <c:strRef>
              <c:f>Sheet1!$C$1</c:f>
              <c:strCache>
                <c:ptCount val="1"/>
                <c:pt idx="0">
                  <c:v>Culex</c:v>
                </c:pt>
              </c:strCache>
            </c:strRef>
          </c:tx>
          <c:spPr>
            <a:solidFill>
              <a:srgbClr val="F2A541"/>
            </a:solidFill>
            <a:ln w="28575" cap="flat">
              <a:solidFill>
                <a:srgbClr val="F2A541"/>
              </a:solidFill>
              <a:prstDash val="sysDot"/>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2A541"/>
              </a:solidFill>
              <a:ln w="9525" cap="flat">
                <a:solidFill>
                  <a:srgbClr val="F2A541"/>
                </a:solidFill>
                <a:prstDash val="solid"/>
                <a:round/>
              </a:ln>
              <a:effectLst/>
            </c:spPr>
          </c:marker>
          <c:cat>
            <c:multiLvlStrRef>
              <c:f>Sheet1!$A$2:$A$13</c:f>
              <c:multiLvlStrCache>
                <c:ptCount val="12"/>
                <c:lvl>
                  <c:pt idx="0">
                    <c:v>J</c:v>
                  </c:pt>
                  <c:pt idx="1">
                    <c:v>F</c:v>
                  </c:pt>
                  <c:pt idx="2">
                    <c:v>M</c:v>
                  </c:pt>
                  <c:pt idx="3">
                    <c:v>A</c:v>
                  </c:pt>
                  <c:pt idx="4">
                    <c:v>M</c:v>
                  </c:pt>
                  <c:pt idx="5">
                    <c:v>J</c:v>
                  </c:pt>
                  <c:pt idx="6">
                    <c:v>J</c:v>
                  </c:pt>
                  <c:pt idx="7">
                    <c:v>A</c:v>
                  </c:pt>
                  <c:pt idx="8">
                    <c:v>S</c:v>
                  </c:pt>
                  <c:pt idx="9">
                    <c:v>O</c:v>
                  </c:pt>
                  <c:pt idx="10">
                    <c:v>N</c:v>
                  </c:pt>
                  <c:pt idx="11">
                    <c:v>D</c:v>
                  </c:pt>
                </c:lvl>
              </c:multiLvlStrCache>
            </c:multiLvlStrRef>
          </c:cat>
          <c:val>
            <c:numRef>
              <c:f>Sheet1!$C$2:$C$13</c:f>
              <c:numCache>
                <c:formatCode>General</c:formatCode>
                <c:ptCount val="12"/>
                <c:pt idx="0">
                  <c:v>15.8</c:v>
                </c:pt>
                <c:pt idx="1">
                  <c:v>15.2</c:v>
                </c:pt>
                <c:pt idx="2">
                  <c:v>22.4</c:v>
                </c:pt>
                <c:pt idx="3">
                  <c:v>43</c:v>
                </c:pt>
                <c:pt idx="4">
                  <c:v>50.3</c:v>
                </c:pt>
                <c:pt idx="5">
                  <c:v>64.8</c:v>
                </c:pt>
                <c:pt idx="6">
                  <c:v>58.2</c:v>
                </c:pt>
                <c:pt idx="7">
                  <c:v>66.1</c:v>
                </c:pt>
                <c:pt idx="8">
                  <c:v>89.1</c:v>
                </c:pt>
                <c:pt idx="9">
                  <c:v>100</c:v>
                </c:pt>
                <c:pt idx="10">
                  <c:v>58.8</c:v>
                </c:pt>
                <c:pt idx="11">
                  <c:v>21.2</c:v>
                </c:pt>
              </c:numCache>
            </c:numRef>
          </c:val>
          <c:smooth val="0"/>
        </c:ser>
        <c:ser>
          <c:idx val="2"/>
          <c:order val="2"/>
          <c:tx>
            <c:strRef>
              <c:f>Sheet1!$D$1</c:f>
              <c:strCache>
                <c:ptCount val="1"/>
                <c:pt idx="0">
                  <c:v>WNV onsets</c:v>
                </c:pt>
              </c:strCache>
            </c:strRef>
          </c:tx>
          <c:spPr>
            <a:solidFill>
              <a:srgbClr val="EEF2EA"/>
            </a:solidFill>
            <a:ln w="38100" cap="flat">
              <a:solidFill>
                <a:srgbClr val="EEF2E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EF2EA"/>
              </a:solidFill>
              <a:ln w="9525" cap="flat">
                <a:solidFill>
                  <a:srgbClr val="EEF2EA"/>
                </a:solidFill>
                <a:prstDash val="solid"/>
                <a:round/>
              </a:ln>
              <a:effectLst/>
            </c:spPr>
          </c:marker>
          <c:cat>
            <c:multiLvlStrRef>
              <c:f>Sheet1!$A$2:$A$13</c:f>
              <c:multiLvlStrCache>
                <c:ptCount val="12"/>
                <c:lvl>
                  <c:pt idx="0">
                    <c:v>J</c:v>
                  </c:pt>
                  <c:pt idx="1">
                    <c:v>F</c:v>
                  </c:pt>
                  <c:pt idx="2">
                    <c:v>M</c:v>
                  </c:pt>
                  <c:pt idx="3">
                    <c:v>A</c:v>
                  </c:pt>
                  <c:pt idx="4">
                    <c:v>M</c:v>
                  </c:pt>
                  <c:pt idx="5">
                    <c:v>J</c:v>
                  </c:pt>
                  <c:pt idx="6">
                    <c:v>J</c:v>
                  </c:pt>
                  <c:pt idx="7">
                    <c:v>A</c:v>
                  </c:pt>
                  <c:pt idx="8">
                    <c:v>S</c:v>
                  </c:pt>
                  <c:pt idx="9">
                    <c:v>O</c:v>
                  </c:pt>
                  <c:pt idx="10">
                    <c:v>N</c:v>
                  </c:pt>
                  <c:pt idx="11">
                    <c:v>D</c:v>
                  </c:pt>
                </c:lvl>
              </c:multiLvlStrCache>
            </c:multiLvlStrRef>
          </c:cat>
          <c:val>
            <c:numRef>
              <c:f>Sheet1!$D$2:$D$13</c:f>
              <c:numCache>
                <c:formatCode>General</c:formatCode>
                <c:ptCount val="12"/>
                <c:pt idx="0">
                  <c:v>0.3</c:v>
                </c:pt>
                <c:pt idx="1">
                  <c:v>0.3</c:v>
                </c:pt>
                <c:pt idx="2">
                  <c:v>0.3</c:v>
                </c:pt>
                <c:pt idx="3">
                  <c:v>0.5</c:v>
                </c:pt>
                <c:pt idx="4">
                  <c:v>1.3</c:v>
                </c:pt>
                <c:pt idx="5">
                  <c:v>6.4</c:v>
                </c:pt>
                <c:pt idx="6">
                  <c:v>33.2</c:v>
                </c:pt>
                <c:pt idx="7">
                  <c:v>100</c:v>
                </c:pt>
                <c:pt idx="8">
                  <c:v>84.1</c:v>
                </c:pt>
                <c:pt idx="9">
                  <c:v>24.7</c:v>
                </c:pt>
                <c:pt idx="10">
                  <c:v>5.1</c:v>
                </c:pt>
                <c:pt idx="11">
                  <c:v>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E5C55"/>
            </a:solidFill>
            <a:prstDash val="solid"/>
            <a:round/>
          </a:ln>
        </c:spPr>
        <c:txPr>
          <a:bodyPr/>
          <a:lstStyle/>
          <a:p>
            <a:pPr>
              <a:defRPr sz="1100" b="0" i="0" u="none" strike="noStrike">
                <a:solidFill>
                  <a:srgbClr val="B7CBC2"/>
                </a:solidFill>
                <a:latin typeface="+mn-lt"/>
              </a:defRPr>
            </a:pPr>
            <a:endParaRPr lang="en-US"/>
          </a:p>
        </c:txPr>
        <c:crossAx val="2094734552"/>
        <c:crosses val="autoZero"/>
        <c:auto val="1"/>
        <c:lblAlgn val="ctr"/>
        <c:noMultiLvlLbl val="1"/>
      </c:catAx>
      <c:valAx>
        <c:axId val="2094734552"/>
        <c:scaling>
          <c:orientation val="minMax"/>
          <c:max val="10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7352F"/>
        </a:solidFill>
        <a:ln>
          <a:noFill/>
        </a:ln>
        <a:effectLst/>
      </c:spPr>
    </c:plotArea>
    <c:legend>
      <c:legendPos val="t"/>
      <c:overlay val="0"/>
      <c:txPr>
        <a:bodyPr/>
        <a:lstStyle/>
        <a:p>
          <a:pPr>
            <a:defRPr sz="1100">
              <a:solidFill>
                <a:srgbClr val="B7CBC2"/>
              </a:solidFill>
              <a:latin typeface="+mn-lt"/>
              <a:cs typeface="+mn-lt"/>
            </a:defRPr>
          </a:pPr>
          <a:endParaRPr lang="en-US"/>
        </a:p>
      </c:txPr>
    </c:legend>
    <c:plotVisOnly val="1"/>
    <c:dispBlanksAs val="span"/>
  </c:chart>
  <c:spPr>
    <a:solidFill>
      <a:srgbClr val="17352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question: can the mosquito photos people post to iNaturalist for biodiversity reasons act as an early signal of West Nile virus? We matched 75,798 sightings from 2016–2025 to CDC case data. Nationally there is a loose link: seasons with more mosquito sightings than usual were worse West Nile seasons. But within a state, a mosquito-heavy spring did not predict a worse season, a crane-fly placebo behaved the same, and adding sightings to a state’s own history made forecasts slightly worse. The likely reason is what people photograph: only 10% of sightings are Culex, the main carrier, and Culex sightings peak in October, after the August peak in human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SUMMARY-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UMMARY">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68580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ph idx="101" type="body" hasCustomPrompt="1"/>
          </p:nvPr>
        </p:nvSpPr>
        <p:spPr>
          <a:xfrm>
            <a:off x="548640" y="1024128"/>
            <a:ext cx="11091672" cy="384048"/>
          </a:xfrm>
          <a:prstGeom prst="rect">
            <a:avLst/>
          </a:prstGeom>
          <a:noFill/>
          <a:ln/>
        </p:spPr>
        <p:txBody>
          <a:bodyPr wrap="square" rtlCol="0"/>
          <a:lstStyle>
            <a:lvl1pPr indent="0" marL="0">
              <a:buNone/>
              <a:defRPr lang="en-US" sz="1600" dirty="0">
                <a:solidFill>
                  <a:schemeClr val="bg2"/>
                </a:solidFill>
                <a:latin typeface="Calibri" pitchFamily="34" charset="0"/>
                <a:ea typeface="Calibri" pitchFamily="34" charset="-122"/>
                <a:cs typeface="Calibri" pitchFamily="34" charset="-120"/>
              </a:defRPr>
            </a:lvl1pPr>
          </a:lstStyle>
          <a:p>
            <a:pPr indent="0" marL="0">
              <a:buNone/>
            </a:pPr>
            <a:endParaRPr lang="en-US" sz="1600" dirty="0"/>
          </a:p>
        </p:txBody>
      </p:sp>
      <p:sp>
        <p:nvSpPr>
          <p:cNvPr id="4" name="Text 0"/>
          <p:cNvSpPr txBox="1"/>
          <p:nvPr/>
        </p:nvSpPr>
        <p:spPr>
          <a:xfrm>
            <a:off x="548640" y="6382512"/>
            <a:ext cx="7498080" cy="274320"/>
          </a:xfrm>
          <a:prstGeom prst="rect">
            <a:avLst/>
          </a:prstGeom>
          <a:noFill/>
          <a:ln/>
        </p:spPr>
        <p:txBody>
          <a:bodyPr wrap="square" lIns="0" tIns="0" rIns="0" bIns="0" rtlCol="0" anchor="ctr"/>
          <a:lstStyle/>
          <a:p>
            <a:pPr indent="0" marL="0">
              <a:buNone/>
            </a:pPr>
            <a:r>
              <a:rPr lang="en-US" sz="1100" dirty="0">
                <a:solidFill>
                  <a:schemeClr val="bg2"/>
                </a:solidFill>
              </a:rPr>
              <a:t>Alexander Pirouznia, Pratheet Joshi, Sriram Sundararajan  |  CS/INFO 5306 - Project 2</a:t>
            </a:r>
            <a:endParaRPr lang="en-US" sz="1100" dirty="0"/>
          </a:p>
        </p:txBody>
      </p:sp>
      <p:sp>
        <p:nvSpPr>
          <p:cNvPr id="5" name="Text 1"/>
          <p:cNvSpPr txBox="1"/>
          <p:nvPr/>
        </p:nvSpPr>
        <p:spPr>
          <a:xfrm>
            <a:off x="8138160" y="6382512"/>
            <a:ext cx="3502152" cy="274320"/>
          </a:xfrm>
          <a:prstGeom prst="rect">
            <a:avLst/>
          </a:prstGeom>
          <a:noFill/>
          <a:ln/>
        </p:spPr>
        <p:txBody>
          <a:bodyPr wrap="square" lIns="0" tIns="0" rIns="0" bIns="0" rtlCol="0" anchor="ctr"/>
          <a:lstStyle/>
          <a:p>
            <a:pPr algn="r" indent="0" marL="0">
              <a:buNone/>
            </a:pPr>
            <a:r>
              <a:rPr lang="en-US" sz="1100" dirty="0">
                <a:solidFill>
                  <a:schemeClr val="bg2"/>
                </a:solidFill>
              </a:rPr>
              <a:t>Data: iNaturalist API, CDC ArboNET</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685800"/>
          </a:xfrm>
          <a:prstGeom prst="rect">
            <a:avLst/>
          </a:prstGeom>
          <a:noFill/>
          <a:ln/>
        </p:spPr>
        <p:txBody>
          <a:bodyPr wrap="square" lIns="0" tIns="0" rIns="0" bIns="0" rtlCol="0" anchor="ctr"/>
          <a:lstStyle/>
          <a:p>
            <a:pPr algn="l" indent="0" marL="0">
              <a:buNone/>
            </a:pPr>
            <a:r>
              <a:rPr lang="en-US" sz="3600" b="1" dirty="0">
                <a:solidFill>
                  <a:schemeClr val="bg1"/>
                </a:solidFill>
                <a:latin typeface="Cambria" pitchFamily="34" charset="0"/>
                <a:ea typeface="Cambria" pitchFamily="34" charset="-122"/>
                <a:cs typeface="Cambria" pitchFamily="34" charset="-120"/>
              </a:rPr>
              <a:t>Do mosquito photos predict West Nile virus?</a:t>
            </a:r>
            <a:endParaRPr lang="en-US" sz="3600" dirty="0"/>
          </a:p>
        </p:txBody>
      </p:sp>
      <p:sp>
        <p:nvSpPr>
          <p:cNvPr id="3" name="Text 0"/>
          <p:cNvSpPr/>
          <p:nvPr>
            <p:ph idx="101" type="body" hasCustomPrompt="1"/>
          </p:nvPr>
        </p:nvSpPr>
        <p:spPr>
          <a:xfrm>
            <a:off x="548640" y="1024128"/>
            <a:ext cx="11091672" cy="384048"/>
          </a:xfrm>
          <a:prstGeom prst="rect">
            <a:avLst/>
          </a:prstGeom>
          <a:noFill/>
          <a:ln/>
        </p:spPr>
        <p:txBody>
          <a:bodyPr wrap="square" lIns="0" tIns="0" rIns="0" bIns="0" rtlCol="0" anchor="t"/>
          <a:lstStyle/>
          <a:p>
            <a:pPr indent="0" marL="0">
              <a:buNone/>
            </a:pPr>
            <a:r>
              <a:rPr lang="en-US" sz="1600" dirty="0">
                <a:solidFill>
                  <a:schemeClr val="bg2"/>
                </a:solidFill>
                <a:latin typeface="Calibri" pitchFamily="34" charset="0"/>
                <a:ea typeface="Calibri" pitchFamily="34" charset="-122"/>
                <a:cs typeface="Calibri" pitchFamily="34" charset="-120"/>
              </a:rPr>
              <a:t>75,798 iNaturalist mosquito sightings by 23,078 people vs. CDC West Nile cases, 2016–2025</a:t>
            </a:r>
            <a:endParaRPr lang="en-US" sz="1600" dirty="0"/>
          </a:p>
        </p:txBody>
      </p:sp>
      <p:sp>
        <p:nvSpPr>
          <p:cNvPr id="4" name="verdict-1-circle"/>
          <p:cNvSpPr/>
          <p:nvPr/>
        </p:nvSpPr>
        <p:spPr>
          <a:xfrm>
            <a:off x="548640" y="1691640"/>
            <a:ext cx="566928" cy="566928"/>
          </a:xfrm>
          <a:prstGeom prst="ellipse">
            <a:avLst/>
          </a:prstGeom>
          <a:solidFill>
            <a:schemeClr val="accent1"/>
          </a:solidFill>
          <a:ln/>
        </p:spPr>
      </p:sp>
      <p:pic>
        <p:nvPicPr>
          <p:cNvPr id="5" name="verdict-1-icon" descr="preencoded.png">    </p:cNvPr>
          <p:cNvPicPr>
            <a:picLocks noChangeAspect="1"/>
          </p:cNvPicPr>
          <p:nvPr/>
        </p:nvPicPr>
        <p:blipFill>
          <a:blip r:embed="rId1"/>
          <a:stretch>
            <a:fillRect/>
          </a:stretch>
        </p:blipFill>
        <p:spPr>
          <a:xfrm>
            <a:off x="676656" y="1819656"/>
            <a:ext cx="310896" cy="310896"/>
          </a:xfrm>
          <a:prstGeom prst="rect">
            <a:avLst/>
          </a:prstGeom>
        </p:spPr>
      </p:pic>
      <p:sp>
        <p:nvSpPr>
          <p:cNvPr id="6" name="verdict-1-head"/>
          <p:cNvSpPr txBox="1"/>
          <p:nvPr/>
        </p:nvSpPr>
        <p:spPr>
          <a:xfrm>
            <a:off x="1325880" y="1673352"/>
            <a:ext cx="525780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Nationally: a loose link</a:t>
            </a:r>
            <a:endParaRPr lang="en-US" sz="1800" dirty="0"/>
          </a:p>
        </p:txBody>
      </p:sp>
      <p:sp>
        <p:nvSpPr>
          <p:cNvPr id="7" name="verdict-1-body"/>
          <p:cNvSpPr txBox="1"/>
          <p:nvPr/>
        </p:nvSpPr>
        <p:spPr>
          <a:xfrm>
            <a:off x="1325880" y="2057400"/>
            <a:ext cx="5257800" cy="685800"/>
          </a:xfrm>
          <a:prstGeom prst="rect">
            <a:avLst/>
          </a:prstGeom>
          <a:noFill/>
          <a:ln/>
        </p:spPr>
        <p:txBody>
          <a:bodyPr wrap="square" lIns="0" tIns="0" rIns="0" bIns="0" rtlCol="0" anchor="t"/>
          <a:lstStyle/>
          <a:p>
            <a:pPr indent="0" marL="0">
              <a:buNone/>
            </a:pPr>
            <a:r>
              <a:rPr lang="en-US" sz="1400" dirty="0">
                <a:solidFill>
                  <a:schemeClr val="bg1"/>
                </a:solidFill>
              </a:rPr>
              <a:t>Mosquito-heavy seasons were worse WNV seasons (r = 0.39, p = 0.02), but only season-wide, not month to month.</a:t>
            </a:r>
            <a:endParaRPr lang="en-US" sz="1400" dirty="0"/>
          </a:p>
        </p:txBody>
      </p:sp>
      <p:sp>
        <p:nvSpPr>
          <p:cNvPr id="8" name="verdict-2-circle"/>
          <p:cNvSpPr/>
          <p:nvPr/>
        </p:nvSpPr>
        <p:spPr>
          <a:xfrm>
            <a:off x="548640" y="2880360"/>
            <a:ext cx="566928" cy="566928"/>
          </a:xfrm>
          <a:prstGeom prst="ellipse">
            <a:avLst/>
          </a:prstGeom>
          <a:solidFill>
            <a:schemeClr val="tx2"/>
          </a:solidFill>
          <a:ln w="19050">
            <a:solidFill>
              <a:schemeClr val="accent1"/>
            </a:solidFill>
            <a:prstDash val="solid"/>
          </a:ln>
        </p:spPr>
      </p:sp>
      <p:pic>
        <p:nvPicPr>
          <p:cNvPr id="9" name="verdict-2-icon" descr="preencoded.png">    </p:cNvPr>
          <p:cNvPicPr>
            <a:picLocks noChangeAspect="1"/>
          </p:cNvPicPr>
          <p:nvPr/>
        </p:nvPicPr>
        <p:blipFill>
          <a:blip r:embed="rId2"/>
          <a:stretch>
            <a:fillRect/>
          </a:stretch>
        </p:blipFill>
        <p:spPr>
          <a:xfrm>
            <a:off x="676656" y="3008376"/>
            <a:ext cx="310896" cy="310896"/>
          </a:xfrm>
          <a:prstGeom prst="rect">
            <a:avLst/>
          </a:prstGeom>
        </p:spPr>
      </p:pic>
      <p:sp>
        <p:nvSpPr>
          <p:cNvPr id="10" name="verdict-2-head"/>
          <p:cNvSpPr txBox="1"/>
          <p:nvPr/>
        </p:nvSpPr>
        <p:spPr>
          <a:xfrm>
            <a:off x="1325880" y="2862072"/>
            <a:ext cx="5257800" cy="36576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Within a state: no signal</a:t>
            </a:r>
            <a:endParaRPr lang="en-US" sz="1800" dirty="0"/>
          </a:p>
        </p:txBody>
      </p:sp>
      <p:sp>
        <p:nvSpPr>
          <p:cNvPr id="11" name="verdict-2-body"/>
          <p:cNvSpPr txBox="1"/>
          <p:nvPr/>
        </p:nvSpPr>
        <p:spPr>
          <a:xfrm>
            <a:off x="1325880" y="3246120"/>
            <a:ext cx="5257800" cy="685800"/>
          </a:xfrm>
          <a:prstGeom prst="rect">
            <a:avLst/>
          </a:prstGeom>
          <a:noFill/>
          <a:ln/>
        </p:spPr>
        <p:txBody>
          <a:bodyPr wrap="square" lIns="0" tIns="0" rIns="0" bIns="0" rtlCol="0" anchor="t"/>
          <a:lstStyle/>
          <a:p>
            <a:pPr indent="0" marL="0">
              <a:buNone/>
            </a:pPr>
            <a:r>
              <a:rPr lang="en-US" sz="1400" dirty="0">
                <a:solidFill>
                  <a:schemeClr val="bg1"/>
                </a:solidFill>
              </a:rPr>
              <a:t>A mosquito-heavy spring did not predict a worse season (p = 0.25), and the crane-fly placebo looked no different.</a:t>
            </a:r>
            <a:endParaRPr lang="en-US" sz="1400" dirty="0"/>
          </a:p>
        </p:txBody>
      </p:sp>
      <p:sp>
        <p:nvSpPr>
          <p:cNvPr id="12" name="verdict-3-circle"/>
          <p:cNvSpPr/>
          <p:nvPr/>
        </p:nvSpPr>
        <p:spPr>
          <a:xfrm>
            <a:off x="548640" y="4069080"/>
            <a:ext cx="566928" cy="566928"/>
          </a:xfrm>
          <a:prstGeom prst="ellipse">
            <a:avLst/>
          </a:prstGeom>
          <a:solidFill>
            <a:schemeClr val="tx2"/>
          </a:solidFill>
          <a:ln w="19050">
            <a:solidFill>
              <a:schemeClr val="accent1"/>
            </a:solidFill>
            <a:prstDash val="solid"/>
          </a:ln>
        </p:spPr>
      </p:sp>
      <p:pic>
        <p:nvPicPr>
          <p:cNvPr id="13" name="verdict-3-icon" descr="preencoded.png">    </p:cNvPr>
          <p:cNvPicPr>
            <a:picLocks noChangeAspect="1"/>
          </p:cNvPicPr>
          <p:nvPr/>
        </p:nvPicPr>
        <p:blipFill>
          <a:blip r:embed="rId3"/>
          <a:stretch>
            <a:fillRect/>
          </a:stretch>
        </p:blipFill>
        <p:spPr>
          <a:xfrm>
            <a:off x="676656" y="4197096"/>
            <a:ext cx="310896" cy="310896"/>
          </a:xfrm>
          <a:prstGeom prst="rect">
            <a:avLst/>
          </a:prstGeom>
        </p:spPr>
      </p:pic>
      <p:sp>
        <p:nvSpPr>
          <p:cNvPr id="14" name="verdict-3-head"/>
          <p:cNvSpPr txBox="1"/>
          <p:nvPr/>
        </p:nvSpPr>
        <p:spPr>
          <a:xfrm>
            <a:off x="1325880" y="4050792"/>
            <a:ext cx="5257800" cy="36576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As a forecast: no gain</a:t>
            </a:r>
            <a:endParaRPr lang="en-US" sz="1800" dirty="0"/>
          </a:p>
        </p:txBody>
      </p:sp>
      <p:sp>
        <p:nvSpPr>
          <p:cNvPr id="15" name="verdict-3-body"/>
          <p:cNvSpPr txBox="1"/>
          <p:nvPr/>
        </p:nvSpPr>
        <p:spPr>
          <a:xfrm>
            <a:off x="1325880" y="4434840"/>
            <a:ext cx="5257800" cy="685800"/>
          </a:xfrm>
          <a:prstGeom prst="rect">
            <a:avLst/>
          </a:prstGeom>
          <a:noFill/>
          <a:ln/>
        </p:spPr>
        <p:txBody>
          <a:bodyPr wrap="square" lIns="0" tIns="0" rIns="0" bIns="0" rtlCol="0" anchor="t"/>
          <a:lstStyle/>
          <a:p>
            <a:pPr indent="0" marL="0">
              <a:buNone/>
            </a:pPr>
            <a:r>
              <a:rPr lang="en-US" sz="1400" dirty="0">
                <a:solidFill>
                  <a:schemeClr val="bg1"/>
                </a:solidFill>
              </a:rPr>
              <a:t>Adding sightings to each state’s own history made its forecasts slightly worse, not better.</a:t>
            </a:r>
            <a:endParaRPr lang="en-US" sz="1400" dirty="0"/>
          </a:p>
        </p:txBody>
      </p:sp>
      <p:sp>
        <p:nvSpPr>
          <p:cNvPr id="16" name="timing-panel"/>
          <p:cNvSpPr/>
          <p:nvPr/>
        </p:nvSpPr>
        <p:spPr>
          <a:xfrm>
            <a:off x="6903720" y="1600200"/>
            <a:ext cx="4736592" cy="3611880"/>
          </a:xfrm>
          <a:prstGeom prst="roundRect">
            <a:avLst>
              <a:gd name="adj" fmla="val 3797"/>
            </a:avLst>
          </a:prstGeom>
          <a:solidFill>
            <a:schemeClr val="tx2"/>
          </a:solidFill>
          <a:ln/>
        </p:spPr>
      </p:sp>
      <p:sp>
        <p:nvSpPr>
          <p:cNvPr id="17" name="timing-head"/>
          <p:cNvSpPr txBox="1"/>
          <p:nvPr/>
        </p:nvSpPr>
        <p:spPr>
          <a:xfrm>
            <a:off x="7132320" y="1719072"/>
            <a:ext cx="4297680" cy="603504"/>
          </a:xfrm>
          <a:prstGeom prst="rect">
            <a:avLst/>
          </a:prstGeom>
          <a:noFill/>
          <a:ln/>
        </p:spPr>
        <p:txBody>
          <a:bodyPr wrap="square" lIns="0" tIns="0" rIns="0" bIns="0" rtlCol="0" anchor="t"/>
          <a:lstStyle/>
          <a:p>
            <a:pPr indent="0" marL="0">
              <a:buNone/>
            </a:pPr>
            <a:r>
              <a:rPr lang="en-US" sz="1500" b="1" dirty="0">
                <a:solidFill>
                  <a:schemeClr val="bg1"/>
                </a:solidFill>
                <a:latin typeface="Cambria" pitchFamily="34" charset="0"/>
                <a:ea typeface="Cambria" pitchFamily="34" charset="-122"/>
                <a:cs typeface="Cambria" pitchFamily="34" charset="-120"/>
              </a:rPr>
              <a:t>Why: only 10% of sightings are </a:t>
            </a:r>
            <a:pPr indent="0" marL="0">
              <a:buNone/>
            </a:pPr>
            <a:r>
              <a:rPr lang="en-US" sz="1500" b="1" i="1" dirty="0">
                <a:solidFill>
                  <a:schemeClr val="bg1"/>
                </a:solidFill>
                <a:latin typeface="Cambria" pitchFamily="34" charset="0"/>
                <a:ea typeface="Cambria" pitchFamily="34" charset="-122"/>
                <a:cs typeface="Cambria" pitchFamily="34" charset="-120"/>
              </a:rPr>
              <a:t>Culex</a:t>
            </a:r>
            <a:pPr indent="0" marL="0">
              <a:buNone/>
            </a:pPr>
            <a:r>
              <a:rPr lang="en-US" sz="1500" b="1" dirty="0">
                <a:solidFill>
                  <a:schemeClr val="bg1"/>
                </a:solidFill>
                <a:latin typeface="Cambria" pitchFamily="34" charset="0"/>
                <a:ea typeface="Cambria" pitchFamily="34" charset="-122"/>
                <a:cs typeface="Cambria" pitchFamily="34" charset="-120"/>
              </a:rPr>
              <a:t>, the main carrier, and they peak after the outbreak</a:t>
            </a:r>
            <a:endParaRPr lang="en-US" sz="1500" dirty="0"/>
          </a:p>
        </p:txBody>
      </p:sp>
      <p:graphicFrame>
        <p:nvGraphicFramePr>
          <p:cNvPr id="18" name="timing-chart" descr="Monthly timing, each line scaled to its own peak: mosquito sightings plateau June to September, Culex sightings peak in October, and West Nile onsets peak in August"/>
          <p:cNvGraphicFramePr/>
          <p:nvPr/>
        </p:nvGraphicFramePr>
        <p:xfrm>
          <a:off x="7040880" y="2377440"/>
          <a:ext cx="4480560" cy="2514600"/>
        </p:xfrm>
        <a:graphic xmlns:a="http://schemas.openxmlformats.org/drawingml/2006/main">
          <a:graphicData uri="http://schemas.openxmlformats.org/drawingml/2006/chart">
            <c:chart xmlns:c="http://schemas.openxmlformats.org/drawingml/2006/chart" r:id="rId4"/>
          </a:graphicData>
        </a:graphic>
      </p:graphicFrame>
      <p:sp>
        <p:nvSpPr>
          <p:cNvPr id="19" name="timing-caption"/>
          <p:cNvSpPr txBox="1"/>
          <p:nvPr/>
        </p:nvSpPr>
        <p:spPr>
          <a:xfrm>
            <a:off x="7132320" y="4892040"/>
            <a:ext cx="4297680" cy="256032"/>
          </a:xfrm>
          <a:prstGeom prst="rect">
            <a:avLst/>
          </a:prstGeom>
          <a:noFill/>
          <a:ln/>
        </p:spPr>
        <p:txBody>
          <a:bodyPr wrap="square" lIns="0" tIns="0" rIns="0" bIns="0" rtlCol="0" anchor="ctr"/>
          <a:lstStyle/>
          <a:p>
            <a:pPr indent="0" marL="0">
              <a:buNone/>
            </a:pPr>
            <a:r>
              <a:rPr lang="en-US" sz="1000" i="1" dirty="0">
                <a:solidFill>
                  <a:schemeClr val="bg2"/>
                </a:solidFill>
              </a:rPr>
              <a:t>Share of 2016–2025 records by month, each line scaled to its own peak</a:t>
            </a:r>
            <a:endParaRPr lang="en-US" sz="1000" dirty="0"/>
          </a:p>
        </p:txBody>
      </p:sp>
      <p:sp>
        <p:nvSpPr>
          <p:cNvPr id="20" name="takeaway-band"/>
          <p:cNvSpPr/>
          <p:nvPr/>
        </p:nvSpPr>
        <p:spPr>
          <a:xfrm>
            <a:off x="548640" y="5440680"/>
            <a:ext cx="11091672" cy="749808"/>
          </a:xfrm>
          <a:prstGeom prst="roundRect">
            <a:avLst>
              <a:gd name="adj" fmla="val 14634"/>
            </a:avLst>
          </a:prstGeom>
          <a:solidFill>
            <a:schemeClr val="accent1"/>
          </a:solidFill>
          <a:ln/>
        </p:spPr>
      </p:sp>
      <p:sp>
        <p:nvSpPr>
          <p:cNvPr id="21" name="takeaway-text"/>
          <p:cNvSpPr txBox="1"/>
          <p:nvPr/>
        </p:nvSpPr>
        <p:spPr>
          <a:xfrm>
            <a:off x="777240" y="5468112"/>
            <a:ext cx="10698480" cy="694944"/>
          </a:xfrm>
          <a:prstGeom prst="rect">
            <a:avLst/>
          </a:prstGeom>
          <a:noFill/>
          <a:ln/>
        </p:spPr>
        <p:txBody>
          <a:bodyPr wrap="square" lIns="0" tIns="0" rIns="0" bIns="0" rtlCol="0" anchor="ctr"/>
          <a:lstStyle/>
          <a:p>
            <a:pPr indent="0" marL="0">
              <a:buNone/>
            </a:pPr>
            <a:r>
              <a:rPr lang="en-US" sz="1500" b="1" dirty="0">
                <a:solidFill>
                  <a:schemeClr val="tx1"/>
                </a:solidFill>
              </a:rPr>
              <a:t>What we learned: </a:t>
            </a:r>
            <a:pPr indent="0" marL="0">
              <a:buNone/>
            </a:pPr>
            <a:r>
              <a:rPr lang="en-US" sz="1500" dirty="0">
                <a:solidFill>
                  <a:schemeClr val="tx1"/>
                </a:solidFill>
              </a:rPr>
              <a:t>people photograph the mosquitoes that bother them, not the ones that carry the virus, so sightings track bad years but can’t say where West Nile will strike.</a:t>
            </a:r>
            <a:endParaRPr lang="en-US" sz="1500" dirty="0"/>
          </a:p>
        </p:txBody>
      </p:sp>
    </p:spTree>
  </p:cSld>
  <p:clrMapOvr>
    <a:masterClrMapping/>
  </p:clrMapOvr>
</p:sld>
</file>

<file path=ppt/theme/theme1.xml><?xml version="1.0" encoding="utf-8"?>
<a:theme xmlns:a="http://schemas.openxmlformats.org/drawingml/2006/main" name="Dusk Marsh">
  <a:themeElements>
    <a:clrScheme name="Dusk Marsh">
      <a:dk1>
        <a:srgbClr val="0F2622"/>
      </a:dk1>
      <a:lt1>
        <a:srgbClr val="EEF2EA"/>
      </a:lt1>
      <a:dk2>
        <a:srgbClr val="17352F"/>
      </a:dk2>
      <a:lt2>
        <a:srgbClr val="B7CBC2"/>
      </a:lt2>
      <a:accent1>
        <a:srgbClr val="F2A541"/>
      </a:accent1>
      <a:accent2>
        <a:srgbClr val="EEF2EA"/>
      </a:accent2>
      <a:accent3>
        <a:srgbClr val="7FA89B"/>
      </a:accent3>
      <a:accent4>
        <a:srgbClr val="3E5C55"/>
      </a:accent4>
      <a:accent5>
        <a:srgbClr val="C9893A"/>
      </a:accent5>
      <a:accent6>
        <a:srgbClr val="D9E4DE"/>
      </a:accent6>
      <a:hlink>
        <a:srgbClr val="F2A541"/>
      </a:hlink>
      <a:folHlink>
        <a:srgbClr val="C9893A"/>
      </a:folHlink>
    </a:clrScheme>
    <a:fontScheme name="Dusk Mars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mosquito photos predict West Nile virus?</dc:title>
  <dc:subject>PptxGenJS Presentation</dc:subject>
  <dc:creator>Alexander Pirouznia, Pratheet Joshi, Sriram Sundararajan</dc:creator>
  <cp:lastModifiedBy>Alexander Pirouznia, Pratheet Joshi, Sriram Sundararajan</cp:lastModifiedBy>
  <cp:revision>1</cp:revision>
  <dcterms:created xsi:type="dcterms:W3CDTF">2026-10-26T18:45:35Z</dcterms:created>
  <dcterms:modified xsi:type="dcterms:W3CDTF">2026-10-26T18:45:35Z</dcterms:modified>
</cp:coreProperties>
</file>